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s2Wn0YM0ZHw/CBggfxjPnSXJw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B3563E-B574-4BAB-8572-757304348BAE}">
  <a:tblStyle styleId="{72B3563E-B574-4BAB-8572-757304348BA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48640" y="685800"/>
            <a:ext cx="3657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SENSOR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SENSEI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66928" y="269748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8F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CE8F8"/>
                </a:solidFill>
                <a:latin typeface="Calibri"/>
                <a:ea typeface="Calibri"/>
                <a:cs typeface="Calibri"/>
                <a:sym typeface="Calibri"/>
              </a:rPr>
              <a:t>Jérémy Coquelin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DCE8F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CE8F8"/>
                </a:solidFill>
                <a:latin typeface="Calibri"/>
                <a:ea typeface="Calibri"/>
                <a:cs typeface="Calibri"/>
                <a:sym typeface="Calibri"/>
              </a:rPr>
              <a:t>Mattéo Cogan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DCE8F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CE8F8"/>
                </a:solidFill>
                <a:latin typeface="Calibri"/>
                <a:ea typeface="Calibri"/>
                <a:cs typeface="Calibri"/>
                <a:sym typeface="Calibri"/>
              </a:rPr>
              <a:t>Fabien Le Fichoux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66928" y="3767328"/>
            <a:ext cx="1463040" cy="13716"/>
          </a:xfrm>
          <a:prstGeom prst="rect">
            <a:avLst/>
          </a:prstGeom>
          <a:solidFill>
            <a:srgbClr val="9CC2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566928" y="39136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D9F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3D9F5"/>
                </a:solidFill>
                <a:latin typeface="Calibri"/>
                <a:ea typeface="Calibri"/>
                <a:cs typeface="Calibri"/>
                <a:sym typeface="Calibri"/>
              </a:rPr>
              <a:t>Epitech — Revue de projet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212080" y="19659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A90E2"/>
                </a:solidFill>
                <a:latin typeface="Calibri"/>
                <a:ea typeface="Calibri"/>
                <a:cs typeface="Calibri"/>
                <a:sym typeface="Calibri"/>
              </a:rPr>
              <a:t>MASTER OF SOCKETS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212080" y="2331720"/>
            <a:ext cx="3520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CF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Capteurs IoT longue portée via LoRa, compatibles sensor.community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457200" y="310896"/>
            <a:ext cx="50292" cy="5120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603504" y="274320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C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Contexte du projet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612648" y="859536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Pourquoi LoRa plutôt que le WiFi direct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57200" y="1216152"/>
            <a:ext cx="8229600" cy="10973"/>
          </a:xfrm>
          <a:prstGeom prst="rect">
            <a:avLst/>
          </a:prstGeom>
          <a:solidFill>
            <a:srgbClr val="2A3B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Sensor Sensei — Epitech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029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02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57200" y="1371600"/>
            <a:ext cx="4041648" cy="3127248"/>
          </a:xfrm>
          <a:prstGeom prst="roundRect">
            <a:avLst>
              <a:gd fmla="val 2339" name="adj"/>
            </a:avLst>
          </a:prstGeom>
          <a:solidFill>
            <a:srgbClr val="121D33"/>
          </a:solidFill>
          <a:ln cap="flat" cmpd="sng" w="9525">
            <a:solidFill>
              <a:srgbClr val="2A3B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658368" y="1490472"/>
            <a:ext cx="3639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POINT IMPORTANT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76656" y="1828800"/>
            <a:ext cx="3602736" cy="248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E4ECF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Le firmware de référence (airrohr) exige une connexion WiFi permanente sur chaque capteur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E4ECF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WiFi souvent indisponible en zone rurale, et énergivore sur batterie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E4ECF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SensorSensei découple mesure (LoRa, batterie) et connectivité (WiFi, un seul relais)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E4ECF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Un gateway peut desservir plusieurs nodes dans un rayon de quelques km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645152" y="1371600"/>
            <a:ext cx="4041648" cy="3127248"/>
          </a:xfrm>
          <a:prstGeom prst="roundRect">
            <a:avLst>
              <a:gd fmla="val 2339" name="adj"/>
            </a:avLst>
          </a:prstGeom>
          <a:solidFill>
            <a:srgbClr val="121D33"/>
          </a:solidFill>
          <a:ln cap="flat" cmpd="sng" w="9525">
            <a:solidFill>
              <a:srgbClr val="2A3B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846320" y="1490472"/>
            <a:ext cx="3639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CHAÎNE DE TRANSMISSION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148072" y="1847088"/>
            <a:ext cx="3035808" cy="365760"/>
          </a:xfrm>
          <a:prstGeom prst="roundRect">
            <a:avLst>
              <a:gd fmla="val 15000" name="adj"/>
            </a:avLst>
          </a:prstGeom>
          <a:solidFill>
            <a:srgbClr val="1B2C4A"/>
          </a:solidFill>
          <a:ln cap="flat" cmpd="sng" w="12700">
            <a:solidFill>
              <a:srgbClr val="2A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5148072" y="1847088"/>
            <a:ext cx="30358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ECF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Node (T-Beam, batterie)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615684" y="2226564"/>
            <a:ext cx="100584" cy="1143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5148072" y="2354580"/>
            <a:ext cx="3035808" cy="365760"/>
          </a:xfrm>
          <a:prstGeom prst="roundRect">
            <a:avLst>
              <a:gd fmla="val 15000" name="adj"/>
            </a:avLst>
          </a:prstGeom>
          <a:solidFill>
            <a:srgbClr val="0B1220"/>
          </a:solidFill>
          <a:ln cap="flat" cmpd="sng" w="9525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5148072" y="2354580"/>
            <a:ext cx="30358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90E2"/>
                </a:solidFill>
                <a:latin typeface="Calibri"/>
                <a:ea typeface="Calibri"/>
                <a:cs typeface="Calibri"/>
                <a:sym typeface="Calibri"/>
              </a:rPr>
              <a:t>LoRa 868 MHz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615684" y="2734056"/>
            <a:ext cx="100584" cy="1143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5148072" y="2862072"/>
            <a:ext cx="3035808" cy="365760"/>
          </a:xfrm>
          <a:prstGeom prst="roundRect">
            <a:avLst>
              <a:gd fmla="val 15000" name="adj"/>
            </a:avLst>
          </a:prstGeom>
          <a:solidFill>
            <a:srgbClr val="1B2C4A"/>
          </a:solidFill>
          <a:ln cap="flat" cmpd="sng" w="12700">
            <a:solidFill>
              <a:srgbClr val="2A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5148072" y="2862072"/>
            <a:ext cx="30358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ECF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Gateway (Heltec V3, USB)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615684" y="3241548"/>
            <a:ext cx="100584" cy="1143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5148072" y="3369564"/>
            <a:ext cx="3035808" cy="365760"/>
          </a:xfrm>
          <a:prstGeom prst="roundRect">
            <a:avLst>
              <a:gd fmla="val 15000" name="adj"/>
            </a:avLst>
          </a:prstGeom>
          <a:solidFill>
            <a:srgbClr val="0B1220"/>
          </a:solidFill>
          <a:ln cap="flat" cmpd="sng" w="9525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5148072" y="3369564"/>
            <a:ext cx="30358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90E2"/>
                </a:solidFill>
                <a:latin typeface="Calibri"/>
                <a:ea typeface="Calibri"/>
                <a:cs typeface="Calibri"/>
                <a:sym typeface="Calibri"/>
              </a:rPr>
              <a:t>WiFi (HTTPS)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615684" y="3749040"/>
            <a:ext cx="100584" cy="1143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5148072" y="3877056"/>
            <a:ext cx="3035808" cy="365760"/>
          </a:xfrm>
          <a:prstGeom prst="roundRect">
            <a:avLst>
              <a:gd fmla="val 15000" name="adj"/>
            </a:avLst>
          </a:prstGeom>
          <a:solidFill>
            <a:srgbClr val="1B2C4A"/>
          </a:solidFill>
          <a:ln cap="flat" cmpd="sng" w="12700">
            <a:solidFill>
              <a:srgbClr val="2A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5148072" y="3877056"/>
            <a:ext cx="30358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ECF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sensor.community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457200" y="310896"/>
            <a:ext cx="50292" cy="5120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603504" y="274320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C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Objectifs du sujet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612648" y="859536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Rappel du cahier des charges — Delivery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57200" y="1216152"/>
            <a:ext cx="8229600" cy="10973"/>
          </a:xfrm>
          <a:prstGeom prst="rect">
            <a:avLst/>
          </a:prstGeom>
          <a:solidFill>
            <a:srgbClr val="2A3B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Sensor Sensei — Epitech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029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03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57200" y="1371600"/>
            <a:ext cx="8229600" cy="3127248"/>
          </a:xfrm>
          <a:prstGeom prst="roundRect">
            <a:avLst>
              <a:gd fmla="val 2339" name="adj"/>
            </a:avLst>
          </a:prstGeom>
          <a:solidFill>
            <a:srgbClr val="121D33"/>
          </a:solidFill>
          <a:ln cap="flat" cmpd="sng" w="9525">
            <a:solidFill>
              <a:srgbClr val="2A3B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658368" y="1490472"/>
            <a:ext cx="78272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CAHIER DES CHARGES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76656" y="1828800"/>
            <a:ext cx="7790688" cy="248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E4ECF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Lister les fonctionnalités du firmware existant (airrohr) à conserver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E4ECF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Capteur distant en deux parties : partie autonome (batterie, mesure, LoRa) + gateway (LoRa → sensor.community)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E4ECF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Nouveau firmware conservant les fonctionnalités existantes : point d'accès WiFi, liste de capteurs compatible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E4ECF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Solution qui minimise la consommation et maximise l'autonomie de la partie batterie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E4ECF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Documentation complète : câblage, firmware, utilisateur, choix d'implémentation et retours d'expérience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E4ECF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Visualisations pour faciliter l'analyse des données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57200" y="310896"/>
            <a:ext cx="50292" cy="5120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603504" y="274320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C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Architecture repensée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612648" y="859536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Séparation stricte node / gateway, payload partagé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57200" y="1216152"/>
            <a:ext cx="8229600" cy="10973"/>
          </a:xfrm>
          <a:prstGeom prst="rect">
            <a:avLst/>
          </a:prstGeom>
          <a:solidFill>
            <a:srgbClr val="2A3B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Sensor Sensei — Epitech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5029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04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457200" y="1371600"/>
            <a:ext cx="4041648" cy="3127248"/>
          </a:xfrm>
          <a:prstGeom prst="roundRect">
            <a:avLst>
              <a:gd fmla="val 2339" name="adj"/>
            </a:avLst>
          </a:prstGeom>
          <a:solidFill>
            <a:srgbClr val="121D33"/>
          </a:solidFill>
          <a:ln cap="flat" cmpd="sng" w="9525">
            <a:solidFill>
              <a:srgbClr val="2A3B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658368" y="1490472"/>
            <a:ext cx="3639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POINT IMPORTANT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676656" y="1828800"/>
            <a:ext cx="3602736" cy="248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E4ECF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Séparation claire des responsabilités : le node mesure et émet, le gateway filtre et relaie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E4ECF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shared/payload.h : struct + encodage/décodage partagés entre les deux firmwares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E4ECF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Pattern Gatekeeper côté gateway : aucun paquet n'est transmis à sensor.community sans validation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645152" y="1371600"/>
            <a:ext cx="4041648" cy="3127248"/>
          </a:xfrm>
          <a:prstGeom prst="roundRect">
            <a:avLst>
              <a:gd fmla="val 2339" name="adj"/>
            </a:avLst>
          </a:prstGeom>
          <a:solidFill>
            <a:srgbClr val="121D33"/>
          </a:solidFill>
          <a:ln cap="flat" cmpd="sng" w="9525">
            <a:solidFill>
              <a:srgbClr val="2A3B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4846320" y="1490472"/>
            <a:ext cx="3639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ARBORESCENCE RÉELLE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864608" y="1801368"/>
            <a:ext cx="3602736" cy="1965960"/>
          </a:xfrm>
          <a:prstGeom prst="rect">
            <a:avLst/>
          </a:prstGeom>
          <a:solidFill>
            <a:srgbClr val="0E1626"/>
          </a:solidFill>
          <a:ln cap="flat" cmpd="sng" w="9525">
            <a:solidFill>
              <a:srgbClr val="2A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4956048" y="1874520"/>
            <a:ext cx="3419856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9C3E6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A9C3E6"/>
                </a:solidFill>
                <a:latin typeface="Courier New"/>
                <a:ea typeface="Courier New"/>
                <a:cs typeface="Courier New"/>
                <a:sym typeface="Courier New"/>
              </a:rPr>
              <a:t>sensor-sensei/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9C3E6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A9C3E6"/>
                </a:solidFill>
                <a:latin typeface="Courier New"/>
                <a:ea typeface="Courier New"/>
                <a:cs typeface="Courier New"/>
                <a:sym typeface="Courier New"/>
              </a:rPr>
              <a:t>├── node/            # Firmware capteur (T-Beam)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9C3E6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A9C3E6"/>
                </a:solidFill>
                <a:latin typeface="Courier New"/>
                <a:ea typeface="Courier New"/>
                <a:cs typeface="Courier New"/>
                <a:sym typeface="Courier New"/>
              </a:rPr>
              <a:t>│   └── src/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9C3E6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A9C3E6"/>
                </a:solidFill>
                <a:latin typeface="Courier New"/>
                <a:ea typeface="Courier New"/>
                <a:cs typeface="Courier New"/>
                <a:sym typeface="Courier New"/>
              </a:rPr>
              <a:t>│       ├── main.cpp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9C3E6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A9C3E6"/>
                </a:solidFill>
                <a:latin typeface="Courier New"/>
                <a:ea typeface="Courier New"/>
                <a:cs typeface="Courier New"/>
                <a:sym typeface="Courier New"/>
              </a:rPr>
              <a:t>│       ├── sensors/  bmp280 · dust · microphone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9C3E6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A9C3E6"/>
                </a:solidFill>
                <a:latin typeface="Courier New"/>
                <a:ea typeface="Courier New"/>
                <a:cs typeface="Courier New"/>
                <a:sym typeface="Courier New"/>
              </a:rPr>
              <a:t>│       └── lora/     transmitter.cpp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9C3E6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A9C3E6"/>
                </a:solidFill>
                <a:latin typeface="Courier New"/>
                <a:ea typeface="Courier New"/>
                <a:cs typeface="Courier New"/>
                <a:sym typeface="Courier New"/>
              </a:rPr>
              <a:t>├── gateway/         # Firmware gateway (Heltec V3)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9C3E6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A9C3E6"/>
                </a:solidFill>
                <a:latin typeface="Courier New"/>
                <a:ea typeface="Courier New"/>
                <a:cs typeface="Courier New"/>
                <a:sym typeface="Courier New"/>
              </a:rPr>
              <a:t>│   └── src/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9C3E6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A9C3E6"/>
                </a:solidFill>
                <a:latin typeface="Courier New"/>
                <a:ea typeface="Courier New"/>
                <a:cs typeface="Courier New"/>
                <a:sym typeface="Courier New"/>
              </a:rPr>
              <a:t>│       ├── main.cpp · gatekeeper.cpp · config.h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9C3E6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A9C3E6"/>
                </a:solidFill>
                <a:latin typeface="Courier New"/>
                <a:ea typeface="Courier New"/>
                <a:cs typeface="Courier New"/>
                <a:sym typeface="Courier New"/>
              </a:rPr>
              <a:t>│       ├── lora/      receiver.cpp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9C3E6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A9C3E6"/>
                </a:solidFill>
                <a:latin typeface="Courier New"/>
                <a:ea typeface="Courier New"/>
                <a:cs typeface="Courier New"/>
                <a:sym typeface="Courier New"/>
              </a:rPr>
              <a:t>│       ├── http/      sensor_community.cpp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9C3E6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A9C3E6"/>
                </a:solidFill>
                <a:latin typeface="Courier New"/>
                <a:ea typeface="Courier New"/>
                <a:cs typeface="Courier New"/>
                <a:sym typeface="Courier New"/>
              </a:rPr>
              <a:t>│       └── display/   display.cpp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9C3E6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A9C3E6"/>
                </a:solidFill>
                <a:latin typeface="Courier New"/>
                <a:ea typeface="Courier New"/>
                <a:cs typeface="Courier New"/>
                <a:sym typeface="Courier New"/>
              </a:rPr>
              <a:t>├── shared/payload.h  # struct + encode/decode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9C3E6"/>
              </a:buClr>
              <a:buSzPts val="720"/>
              <a:buFont typeface="Courier New"/>
              <a:buNone/>
            </a:pPr>
            <a:r>
              <a:rPr b="0" i="0" lang="en-US" sz="720" u="none" cap="none" strike="noStrike">
                <a:solidFill>
                  <a:srgbClr val="A9C3E6"/>
                </a:solidFill>
                <a:latin typeface="Courier New"/>
                <a:ea typeface="Courier New"/>
                <a:cs typeface="Courier New"/>
                <a:sym typeface="Courier New"/>
              </a:rPr>
              <a:t>└── docs/  architecture · wiring · setup · choix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457200" y="310896"/>
            <a:ext cx="50292" cy="5120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603504" y="274320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C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Capteurs intégrés côté node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12648" y="859536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Trois capteurs, une seule payload LoRa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457200" y="1216152"/>
            <a:ext cx="8229600" cy="10973"/>
          </a:xfrm>
          <a:prstGeom prst="rect">
            <a:avLst/>
          </a:prstGeom>
          <a:solidFill>
            <a:srgbClr val="2A3B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Sensor Sensei — Epitech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5029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05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57200" y="1371600"/>
            <a:ext cx="8229600" cy="3127248"/>
          </a:xfrm>
          <a:prstGeom prst="roundRect">
            <a:avLst>
              <a:gd fmla="val 2339" name="adj"/>
            </a:avLst>
          </a:prstGeom>
          <a:solidFill>
            <a:srgbClr val="121D33"/>
          </a:solidFill>
          <a:ln cap="flat" cmpd="sng" w="9525">
            <a:solidFill>
              <a:srgbClr val="2A3B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658368" y="1490472"/>
            <a:ext cx="78272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CHAÎNE D'ACQUISITION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676656" y="1828800"/>
            <a:ext cx="7790688" cy="248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E4ECF7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BMP280 (HW-611, I2C) — température et pression atmosphérique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E4ECF7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GP2Y1010AU0F (Waveshare Dust Sensor, ADC + LED IR) — particules fines PM2.5, moyenne glissante sur 5 échantillons pour lisser le bruit ADC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E4ECF7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SPH0645 (micro I2S) — niveau sonore RMS converti en dBFS ; capteur initialement abandonné faute d'implémentation stable, puis réintégré avec succès dans la payload et la gateway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457200" y="310896"/>
            <a:ext cx="50292" cy="5120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603504" y="274320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C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Payload LoRa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612648" y="859536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Format binaire partagé — shared/payload.h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57200" y="1216152"/>
            <a:ext cx="8229600" cy="10973"/>
          </a:xfrm>
          <a:prstGeom prst="rect">
            <a:avLst/>
          </a:prstGeom>
          <a:solidFill>
            <a:srgbClr val="2A3B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Sensor Sensei — Epitech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5029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06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57200" y="1371600"/>
            <a:ext cx="8229600" cy="3127248"/>
          </a:xfrm>
          <a:prstGeom prst="roundRect">
            <a:avLst>
              <a:gd fmla="val 2339" name="adj"/>
            </a:avLst>
          </a:prstGeom>
          <a:solidFill>
            <a:srgbClr val="121D33"/>
          </a:solidFill>
          <a:ln cap="flat" cmpd="sng" w="9525">
            <a:solidFill>
              <a:srgbClr val="2A3B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658368" y="1490472"/>
            <a:ext cx="78272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STRUCTURE — 12 OCTETS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7" name="Google Shape;117;p6"/>
          <p:cNvGraphicFramePr/>
          <p:nvPr/>
        </p:nvGraphicFramePr>
        <p:xfrm>
          <a:off x="676656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{72B3563E-B574-4BAB-8572-757304348BAE}</a:tableStyleId>
              </a:tblPr>
              <a:tblGrid>
                <a:gridCol w="777250"/>
                <a:gridCol w="1508750"/>
                <a:gridCol w="3063250"/>
                <a:gridCol w="2441450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Octets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C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Champ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C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C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Exemple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C4A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9C3E6"/>
                        </a:buClr>
                        <a:buSzPts val="950"/>
                        <a:buFont typeface="Courier New"/>
                        <a:buNone/>
                      </a:pPr>
                      <a:r>
                        <a:rPr lang="en-US" sz="950" u="none" cap="none" strike="noStrike">
                          <a:solidFill>
                            <a:srgbClr val="A9C3E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0–3</a:t>
                      </a:r>
                      <a:endParaRPr sz="9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D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device_id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D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uint32 big-endian (MAC ESP32, eFuse)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D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9C3E6"/>
                        </a:buClr>
                        <a:buSzPts val="950"/>
                        <a:buFont typeface="Courier New"/>
                        <a:buNone/>
                      </a:pPr>
                      <a:r>
                        <a:rPr lang="en-US" sz="950" u="none" cap="none" strike="noStrike">
                          <a:solidFill>
                            <a:srgbClr val="A9C3E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0x1A2B3C4D</a:t>
                      </a:r>
                      <a:endParaRPr sz="9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D33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9C3E6"/>
                        </a:buClr>
                        <a:buSzPts val="950"/>
                        <a:buFont typeface="Courier New"/>
                        <a:buNone/>
                      </a:pPr>
                      <a:r>
                        <a:rPr lang="en-US" sz="950" u="none" cap="none" strike="noStrike">
                          <a:solidFill>
                            <a:srgbClr val="A9C3E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4–5</a:t>
                      </a:r>
                      <a:endParaRPr sz="9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D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température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D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int16 big-endian, °C × 100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D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2150 → 21.50 °C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D33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9C3E6"/>
                        </a:buClr>
                        <a:buSzPts val="950"/>
                        <a:buFont typeface="Courier New"/>
                        <a:buNone/>
                      </a:pPr>
                      <a:r>
                        <a:rPr lang="en-US" sz="950" u="none" cap="none" strike="noStrike">
                          <a:solidFill>
                            <a:srgbClr val="A9C3E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6–7</a:t>
                      </a:r>
                      <a:endParaRPr sz="9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D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D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uint16 big-endian, hPa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D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1013 → 1013 hPa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D33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9C3E6"/>
                        </a:buClr>
                        <a:buSzPts val="950"/>
                        <a:buFont typeface="Courier New"/>
                        <a:buNone/>
                      </a:pPr>
                      <a:r>
                        <a:rPr lang="en-US" sz="950" u="none" cap="none" strike="noStrike">
                          <a:solidFill>
                            <a:srgbClr val="A9C3E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8–9</a:t>
                      </a:r>
                      <a:endParaRPr sz="9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D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PM2.5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D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uint16 big-endian, µg/m³ × 10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D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125 → 12.5 µg/m³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D33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9C3E6"/>
                        </a:buClr>
                        <a:buSzPts val="950"/>
                        <a:buFont typeface="Courier New"/>
                        <a:buNone/>
                      </a:pPr>
                      <a:r>
                        <a:rPr lang="en-US" sz="950" u="none" cap="none" strike="noStrike">
                          <a:solidFill>
                            <a:srgbClr val="A9C3E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10–11</a:t>
                      </a:r>
                      <a:endParaRPr sz="9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D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micro (RMS)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D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uint16 big-endian, × 10000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D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421 → 0.0421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D33"/>
                    </a:solidFill>
                  </a:tcPr>
                </a:tc>
              </a:tr>
            </a:tbl>
          </a:graphicData>
        </a:graphic>
      </p:graphicFrame>
      <p:sp>
        <p:nvSpPr>
          <p:cNvPr id="118" name="Google Shape;118;p6"/>
          <p:cNvSpPr/>
          <p:nvPr/>
        </p:nvSpPr>
        <p:spPr>
          <a:xfrm>
            <a:off x="676656" y="3584448"/>
            <a:ext cx="77906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12 octets au total — sous la contrainte projet (16 octets) et très en-dessous de la limite pratique LoRa SF9/125 kHz (51 octets). Pas de flottants IEEE754 : chaque champ est un entier mis à l'échelle pour économiser l'air time et la batterie.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457200" y="310896"/>
            <a:ext cx="50292" cy="5120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603504" y="274320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C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Gateway → sensor.community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12648" y="859536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Gatekeeper puis trois requêtes HTTPS par paquet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57200" y="1216152"/>
            <a:ext cx="8229600" cy="10973"/>
          </a:xfrm>
          <a:prstGeom prst="rect">
            <a:avLst/>
          </a:prstGeom>
          <a:solidFill>
            <a:srgbClr val="2A3B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Sensor Sensei — Epitech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5029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07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57200" y="1371600"/>
            <a:ext cx="4041648" cy="3127248"/>
          </a:xfrm>
          <a:prstGeom prst="roundRect">
            <a:avLst>
              <a:gd fmla="val 2339" name="adj"/>
            </a:avLst>
          </a:prstGeom>
          <a:solidFill>
            <a:srgbClr val="121D33"/>
          </a:solidFill>
          <a:ln cap="flat" cmpd="sng" w="9525">
            <a:solidFill>
              <a:srgbClr val="2A3B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658368" y="1490472"/>
            <a:ext cx="3639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GATEKEEPER AVANT ENVOI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676656" y="1828800"/>
            <a:ext cx="3602736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E4ECF7"/>
              </a:buClr>
              <a:buSzPts val="1100"/>
              <a:buFont typeface="Calibri"/>
              <a:buAutoNum type="arabicPeriod"/>
            </a:pPr>
            <a:r>
              <a:rPr b="0" i="0" lang="en-US" sz="11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Whitelist — device_id dans AUTHORIZED_DEVICES ? (vide = tout accepté en dev)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E4ECF7"/>
              </a:buClr>
              <a:buSzPts val="1100"/>
              <a:buFont typeface="Calibri"/>
              <a:buAutoNum type="arabicPeriod"/>
            </a:pPr>
            <a:r>
              <a:rPr b="0" i="0" lang="en-US" sz="11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Plages plausibles — température, pression, niveau micro dans des bornes physiques réalistes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E4ECF7"/>
              </a:buClr>
              <a:buSzPts val="1100"/>
              <a:buFont typeface="Calibri"/>
              <a:buAutoNum type="arabicPeriod"/>
            </a:pPr>
            <a:r>
              <a:rPr b="0" i="0" lang="en-US" sz="11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Rejet + log si échec, sinon transmission à sensor.community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676656" y="3520440"/>
            <a:ext cx="360273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Objectif : empêcher un émetteur non autorisé ou un capteur défaillant de polluer les données de la communauté.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645152" y="1371600"/>
            <a:ext cx="4041648" cy="3127248"/>
          </a:xfrm>
          <a:prstGeom prst="roundRect">
            <a:avLst>
              <a:gd fmla="val 2339" name="adj"/>
            </a:avLst>
          </a:prstGeom>
          <a:solidFill>
            <a:srgbClr val="121D33"/>
          </a:solidFill>
          <a:ln cap="flat" cmpd="sng" w="9525">
            <a:solidFill>
              <a:srgbClr val="2A3B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4846320" y="1490472"/>
            <a:ext cx="3639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3 ENDPOINTS SENSOR.COMMUNITY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7" name="Google Shape;137;p7"/>
          <p:cNvGraphicFramePr/>
          <p:nvPr/>
        </p:nvGraphicFramePr>
        <p:xfrm>
          <a:off x="4864608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{72B3563E-B574-4BAB-8572-757304348BAE}</a:tableStyleId>
              </a:tblPr>
              <a:tblGrid>
                <a:gridCol w="502925"/>
                <a:gridCol w="960125"/>
                <a:gridCol w="21397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C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C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Champs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C4A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D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BME280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D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temperature, pressure (Pa)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D33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D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SDS011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D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P1 = P2 = PM2.5 (µg/m³)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D33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D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DNMS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D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noise_LAeq (dBFS)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D33"/>
                    </a:solidFill>
                  </a:tcPr>
                </a:tc>
              </a:tr>
            </a:tbl>
          </a:graphicData>
        </a:graphic>
      </p:graphicFrame>
      <p:sp>
        <p:nvSpPr>
          <p:cNvPr id="138" name="Google Shape;138;p7"/>
          <p:cNvSpPr/>
          <p:nvPr/>
        </p:nvSpPr>
        <p:spPr>
          <a:xfrm>
            <a:off x="4864608" y="3520440"/>
            <a:ext cx="360273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Identifiant de station : esp32-&lt;device_id décimal&gt;. Écran OLED : dernier paquet (valeurs, RSSI, SNR) affiché en temps réel.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457200" y="310896"/>
            <a:ext cx="50292" cy="5120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603504" y="274320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C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Gestion de l'énergie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612648" y="859536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Deep sleep + coupure d'alimentation ciblée (PMIC AXP2101)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457200" y="1216152"/>
            <a:ext cx="8229600" cy="10973"/>
          </a:xfrm>
          <a:prstGeom prst="rect">
            <a:avLst/>
          </a:prstGeom>
          <a:solidFill>
            <a:srgbClr val="2A3B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Sensor Sensei — Epitech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5029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08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457200" y="1371600"/>
            <a:ext cx="4041648" cy="3127248"/>
          </a:xfrm>
          <a:prstGeom prst="roundRect">
            <a:avLst>
              <a:gd fmla="val 2339" name="adj"/>
            </a:avLst>
          </a:prstGeom>
          <a:solidFill>
            <a:srgbClr val="121D33"/>
          </a:solidFill>
          <a:ln cap="flat" cmpd="sng" w="9525">
            <a:solidFill>
              <a:srgbClr val="2A3B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658368" y="1490472"/>
            <a:ext cx="3639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STRATÉGIE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676656" y="1828800"/>
            <a:ext cx="3602736" cy="248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E4ECF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Toute la logique dans setup() : le deep sleep redémarre l'ESP32 depuis le début, loop() n'est jamais atteint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E4ECF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device_id mis en cache en RTC RAM après la première lecture eFuse (évite un accès lent à chaque réveil)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E4ECF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PMIC AXP2101 : ALDO3 (SX1276) coupé pendant le sommeil, ALDO4 (GPS, inutilisé) désactivé en continu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E4ECF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Cycle de réveil : 5 minutes (sensor.community accepte 145 s minimum)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645152" y="1371600"/>
            <a:ext cx="4041648" cy="3127248"/>
          </a:xfrm>
          <a:prstGeom prst="roundRect">
            <a:avLst>
              <a:gd fmla="val 2339" name="adj"/>
            </a:avLst>
          </a:prstGeom>
          <a:solidFill>
            <a:srgbClr val="121D33"/>
          </a:solidFill>
          <a:ln cap="flat" cmpd="sng" w="9525">
            <a:solidFill>
              <a:srgbClr val="2A3B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4846320" y="1490472"/>
            <a:ext cx="3639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ESTIMATION D'AUTONOMIE (THÉORIQUE)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" name="Google Shape;156;p8"/>
          <p:cNvGraphicFramePr/>
          <p:nvPr/>
        </p:nvGraphicFramePr>
        <p:xfrm>
          <a:off x="4864608" y="1965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{72B3563E-B574-4BAB-8572-757304348BAE}</a:tableStyleId>
              </a:tblPr>
              <a:tblGrid>
                <a:gridCol w="1773925"/>
                <a:gridCol w="914400"/>
                <a:gridCol w="914400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Phase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C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Durée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C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Courant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C4A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Actif (mesure + TX)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D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~3 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D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~120 mA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D33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Deep sleep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D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~297 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D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ECF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E4EC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~15 µA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D33"/>
                    </a:solidFill>
                  </a:tcPr>
                </a:tc>
              </a:tr>
            </a:tbl>
          </a:graphicData>
        </a:graphic>
      </p:graphicFrame>
      <p:sp>
        <p:nvSpPr>
          <p:cNvPr id="157" name="Google Shape;157;p8"/>
          <p:cNvSpPr/>
          <p:nvPr/>
        </p:nvSpPr>
        <p:spPr>
          <a:xfrm>
            <a:off x="4864608" y="3108960"/>
            <a:ext cx="360273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A90E2"/>
                </a:solidFill>
                <a:latin typeface="Calibri"/>
                <a:ea typeface="Calibri"/>
                <a:cs typeface="Calibri"/>
                <a:sym typeface="Calibri"/>
              </a:rPr>
              <a:t>~101 µAh</a:t>
            </a:r>
            <a:r>
              <a:rPr b="0" i="0" lang="en-US" sz="11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 par cycle de 5 min → environ </a:t>
            </a:r>
            <a:r>
              <a:rPr b="1" i="0" lang="en-US" sz="1100" u="none" cap="none" strike="noStrike">
                <a:solidFill>
                  <a:srgbClr val="4A90E2"/>
                </a:solidFill>
                <a:latin typeface="Calibri"/>
                <a:ea typeface="Calibri"/>
                <a:cs typeface="Calibri"/>
                <a:sym typeface="Calibri"/>
              </a:rPr>
              <a:t>69 jours</a:t>
            </a:r>
            <a:r>
              <a:rPr b="0" i="0" lang="en-US" sz="11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 d'autonomie sur une batterie LiPo 2000 mAh (estimation théorique, sans mesure terrain).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457200" y="310896"/>
            <a:ext cx="50292" cy="5120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603504" y="274320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C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Ce qui fonctionne aujourd'hui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612648" y="859536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Testé de bout en bout en intérieur, sans perte de paquet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457200" y="1216152"/>
            <a:ext cx="8229600" cy="10973"/>
          </a:xfrm>
          <a:prstGeom prst="rect">
            <a:avLst/>
          </a:prstGeom>
          <a:solidFill>
            <a:srgbClr val="2A3B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Sensor Sensei — Epitech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5029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09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457200" y="1371600"/>
            <a:ext cx="4041648" cy="3127248"/>
          </a:xfrm>
          <a:prstGeom prst="roundRect">
            <a:avLst>
              <a:gd fmla="val 2339" name="adj"/>
            </a:avLst>
          </a:prstGeom>
          <a:solidFill>
            <a:srgbClr val="121D33"/>
          </a:solidFill>
          <a:ln cap="flat" cmpd="sng" w="9525">
            <a:solidFill>
              <a:srgbClr val="2A3B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658368" y="1490472"/>
            <a:ext cx="3639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NODE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676656" y="1828800"/>
            <a:ext cx="3602736" cy="248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E4ECF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BMP280, GP2Y1010 et SPH0645 lus et encodés dans une payload unique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E4ECF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Transmission LoRa (SX1276, RadioLib, SF9/125 kHz)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E4ECF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Cycle complet mesure → émission → deep sleep, sans intervention manuelle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4645152" y="1371600"/>
            <a:ext cx="4041648" cy="3127248"/>
          </a:xfrm>
          <a:prstGeom prst="roundRect">
            <a:avLst>
              <a:gd fmla="val 2339" name="adj"/>
            </a:avLst>
          </a:prstGeom>
          <a:solidFill>
            <a:srgbClr val="121D33"/>
          </a:solidFill>
          <a:ln cap="flat" cmpd="sng" w="9525">
            <a:solidFill>
              <a:srgbClr val="2A3B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4846320" y="1490472"/>
            <a:ext cx="3639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GATEWAY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4864608" y="1828800"/>
            <a:ext cx="3602736" cy="248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E4ECF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Réception LoRa (SX1262) avec RSSI/SNR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E4ECF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Filtrage Gatekeeper (whitelist + plages)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E4ECF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Affichage OLED du dernier paquet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E4ECF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Envoi HTTPS vers sensor.community (3 types de données)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457200" y="310896"/>
            <a:ext cx="50292" cy="5120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603504" y="274320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C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Retours d'expérience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612648" y="859536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Ce qu'on retient du développement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457200" y="1216152"/>
            <a:ext cx="8229600" cy="10973"/>
          </a:xfrm>
          <a:prstGeom prst="rect">
            <a:avLst/>
          </a:prstGeom>
          <a:solidFill>
            <a:srgbClr val="2A3B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Sensor Sensei — Epitech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5029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10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457200" y="1371600"/>
            <a:ext cx="8229600" cy="3127248"/>
          </a:xfrm>
          <a:prstGeom prst="roundRect">
            <a:avLst>
              <a:gd fmla="val 2339" name="adj"/>
            </a:avLst>
          </a:prstGeom>
          <a:solidFill>
            <a:srgbClr val="121D33"/>
          </a:solidFill>
          <a:ln cap="flat" cmpd="sng" w="9525">
            <a:solidFill>
              <a:srgbClr val="2A3B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658368" y="1490472"/>
            <a:ext cx="78272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BILAN TECHNIQUE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676656" y="1828800"/>
            <a:ext cx="7790688" cy="248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E4ECF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RadioLib : intégration rapide sur les deux puces (SX1276 côté node, SX1262 côté gateway), aucune difficulté de communication rencontrée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E4ECF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Capteur de poussière (GP2Y1010) : le point le plus difficile du projet — un exemplaire défectueux reçu, signal ADC bruité, valeurs PM2.5 encore instables malgré le lissage. Acceptable pour des tendances, pas pour une mesure précise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E4ECF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Microphone SPH0645 : intégration I2S délicate, d'abord écartée du firmware puis reprise et stabilisée dans la payload finale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E4ECF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API sensor.community : mapping des pins (1 / 11 / 15) et unités (Pa vs hPa) pas trivial à retrouver dans la documentation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E4ECF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Tests limités à un seul node, à ~5–10 m en intérieur — aucun test de portée longue distance réalisé à ce stade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"/>
          <p:cNvSpPr/>
          <p:nvPr/>
        </p:nvSpPr>
        <p:spPr>
          <a:xfrm>
            <a:off x="457200" y="310896"/>
            <a:ext cx="50292" cy="5120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603504" y="274320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C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Prochaines étapes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612648" y="859536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Travail en cours de revue et backlog identifié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457200" y="1216152"/>
            <a:ext cx="8229600" cy="10973"/>
          </a:xfrm>
          <a:prstGeom prst="rect">
            <a:avLst/>
          </a:prstGeom>
          <a:solidFill>
            <a:srgbClr val="2A3B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Sensor Sensei — Epitech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5029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11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457200" y="1371600"/>
            <a:ext cx="4041648" cy="3127248"/>
          </a:xfrm>
          <a:prstGeom prst="roundRect">
            <a:avLst>
              <a:gd fmla="val 2339" name="adj"/>
            </a:avLst>
          </a:prstGeom>
          <a:solidFill>
            <a:srgbClr val="121D33"/>
          </a:solidFill>
          <a:ln cap="flat" cmpd="sng" w="9525">
            <a:solidFill>
              <a:srgbClr val="2A3B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"/>
          <p:cNvSpPr/>
          <p:nvPr/>
        </p:nvSpPr>
        <p:spPr>
          <a:xfrm>
            <a:off x="658368" y="1490472"/>
            <a:ext cx="3639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EN COURS DE REVUE (BRANCHES OUVERTES)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676656" y="1828800"/>
            <a:ext cx="3602736" cy="248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E4ECF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Portail de configuration WiFi + whitelist en point d'accès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E4ECF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File d'attente HTTP hors-ligne si le WiFi tombe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E4ECF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Protocole LoRa « framed » avec jitter, plus robuste aux collisions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E4ECF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Correction du mapping BMP280 → pin sensor.community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4645152" y="1371600"/>
            <a:ext cx="4041648" cy="3127248"/>
          </a:xfrm>
          <a:prstGeom prst="roundRect">
            <a:avLst>
              <a:gd fmla="val 2339" name="adj"/>
            </a:avLst>
          </a:prstGeom>
          <a:solidFill>
            <a:srgbClr val="121D33"/>
          </a:solidFill>
          <a:ln cap="flat" cmpd="sng" w="9525">
            <a:solidFill>
              <a:srgbClr val="2A3B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4846320" y="1490472"/>
            <a:ext cx="3639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BACKLOG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4864608" y="1828800"/>
            <a:ext cx="3602736" cy="248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E4ECF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Tests de portée réelle et taux de perte (protocole CNC défini)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E4ECF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Accusé de réception (ACK) gateway → node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E4ECF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Humidité : passage à un BME280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E4ECF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Chiffrement AES-128 de la payload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E4ECF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Remplissage de la whitelist en production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E4ECF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Calibration ADC (esp_adc_cal) pour stabiliser le PM2.5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"/>
          <p:cNvSpPr/>
          <p:nvPr/>
        </p:nvSpPr>
        <p:spPr>
          <a:xfrm>
            <a:off x="0" y="1600200"/>
            <a:ext cx="9144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ECF7"/>
              </a:buClr>
              <a:buSzPts val="6600"/>
              <a:buFont typeface="Calibri"/>
              <a:buNone/>
            </a:pPr>
            <a:r>
              <a:rPr b="1" i="0" lang="en-US" sz="66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Merci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3840480" y="3063240"/>
            <a:ext cx="1463040" cy="3200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"/>
          <p:cNvSpPr/>
          <p:nvPr/>
        </p:nvSpPr>
        <p:spPr>
          <a:xfrm>
            <a:off x="0" y="32918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Des questions 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0" y="452628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A0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F"/>
                </a:solidFill>
                <a:latin typeface="Calibri"/>
                <a:ea typeface="Calibri"/>
                <a:cs typeface="Calibri"/>
                <a:sym typeface="Calibri"/>
              </a:rPr>
              <a:t>Sensor Sensei — Epitech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2026-07-09T08:12:18Z</dcterms:created>
  <dc:creator>Jérémy Coquelin, Mattéo Cogan, Fabien Le Fichoux</dc:creator>
</cp:coreProperties>
</file>